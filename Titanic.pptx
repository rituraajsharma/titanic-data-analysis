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4" r:id="rId7"/>
    <p:sldId id="265" r:id="rId8"/>
    <p:sldId id="262" r:id="rId9"/>
  </p:sldIdLst>
  <p:sldSz cx="18288000" cy="10287000"/>
  <p:notesSz cx="18288000" cy="10287000"/>
  <p:embeddedFontLst>
    <p:embeddedFont>
      <p:font typeface="Arial Black" panose="020B0A04020102020204" pitchFamily="34" charset="0"/>
      <p:bold r:id="rId10"/>
    </p:embeddedFont>
    <p:embeddedFont>
      <p:font typeface="Bahnschrift SemiCondensed" panose="020B0502040204020203" pitchFamily="34" charset="0"/>
      <p:regular r:id="rId11"/>
      <p:bold r:id="rId12"/>
    </p:embeddedFont>
    <p:embeddedFont>
      <p:font typeface="BWSFLV+Montserrat-Regular" panose="020B0604020202020204"/>
      <p:regular r:id="rId13"/>
    </p:embeddedFont>
    <p:embeddedFont>
      <p:font typeface="Calibri" panose="020F0502020204030204" pitchFamily="34" charset="0"/>
      <p:regular r:id="rId14"/>
      <p:bold r:id="rId15"/>
      <p:italic r:id="rId16"/>
      <p:boldItalic r:id="rId17"/>
    </p:embeddedFont>
    <p:embeddedFont>
      <p:font typeface="Century" panose="02040604050505020304" pitchFamily="18" charset="0"/>
      <p:regular r:id="rId18"/>
    </p:embeddedFont>
    <p:embeddedFont>
      <p:font typeface="Comic Sans MS" panose="030F0702030302020204" pitchFamily="66" charset="0"/>
      <p:regular r:id="rId19"/>
      <p:bold r:id="rId20"/>
      <p:italic r:id="rId21"/>
      <p:boldItalic r:id="rId22"/>
    </p:embeddedFont>
    <p:embeddedFont>
      <p:font typeface="Roboto" panose="02000000000000000000" pitchFamily="2"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2" d="100"/>
          <a:sy n="52" d="100"/>
        </p:scale>
        <p:origin x="778" y="58"/>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font" Target="fonts/font17.fntdata"/><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font" Target="fonts/font14.fntdata"/><Relationship Id="rId28" Type="http://schemas.openxmlformats.org/officeDocument/2006/relationships/viewProps" Target="viewProp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 Id="rId22" Type="http://schemas.openxmlformats.org/officeDocument/2006/relationships/font" Target="fonts/font13.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1/24/2025</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1/24/2025</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nl.wikipedia.org/wiki/Hendrik_Bolhuis"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wallpaperaccess.com/titanic"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F78F73C0-E8AC-4617-A847-97BE1483E0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0400" y="2514600"/>
            <a:ext cx="9347200" cy="5257800"/>
          </a:xfrm>
          <a:prstGeom prst="rect">
            <a:avLst/>
          </a:prstGeom>
        </p:spPr>
      </p:pic>
      <p:pic>
        <p:nvPicPr>
          <p:cNvPr id="13" name="Picture 12">
            <a:extLst>
              <a:ext uri="{FF2B5EF4-FFF2-40B4-BE49-F238E27FC236}">
                <a16:creationId xmlns:a16="http://schemas.microsoft.com/office/drawing/2014/main" id="{489D16E9-ACAB-4A10-9352-1179C1B45D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0399" y="2514600"/>
            <a:ext cx="9373419" cy="5272548"/>
          </a:xfrm>
          <a:prstGeom prst="rect">
            <a:avLst/>
          </a:prstGeom>
        </p:spPr>
      </p:pic>
      <p:pic>
        <p:nvPicPr>
          <p:cNvPr id="5" name="Picture 4">
            <a:extLst>
              <a:ext uri="{FF2B5EF4-FFF2-40B4-BE49-F238E27FC236}">
                <a16:creationId xmlns:a16="http://schemas.microsoft.com/office/drawing/2014/main" id="{9980CDEA-2966-4513-AA20-496E079B39CB}"/>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096000" y="3057525"/>
            <a:ext cx="6096000" cy="4171950"/>
          </a:xfrm>
          <a:prstGeom prst="rect">
            <a:avLst/>
          </a:prstGeom>
        </p:spPr>
      </p:pic>
      <p:sp>
        <p:nvSpPr>
          <p:cNvPr id="2" name="object 1"/>
          <p:cNvSpPr/>
          <p:nvPr/>
        </p:nvSpPr>
        <p:spPr>
          <a:xfrm>
            <a:off x="0" y="0"/>
            <a:ext cx="18288000" cy="10287000"/>
          </a:xfrm>
          <a:prstGeom prst="rect">
            <a:avLst/>
          </a:prstGeom>
          <a:blipFill>
            <a:blip r:embed="rId5" cstate="print"/>
            <a:stretch>
              <a:fillRect/>
            </a:stretch>
          </a:blipFill>
        </p:spPr>
        <p:txBody>
          <a:bodyPr wrap="square" lIns="0" tIns="0" rIns="0" bIns="0" rtlCol="0">
            <a:spAutoFit/>
          </a:bodyPr>
          <a:lstStyle/>
          <a:p>
            <a:endParaRPr dirty="0"/>
          </a:p>
        </p:txBody>
      </p:sp>
      <p:pic>
        <p:nvPicPr>
          <p:cNvPr id="17" name="Picture 16">
            <a:extLst>
              <a:ext uri="{FF2B5EF4-FFF2-40B4-BE49-F238E27FC236}">
                <a16:creationId xmlns:a16="http://schemas.microsoft.com/office/drawing/2014/main" id="{1E50A098-0933-4397-AE21-A9D772CE26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032" y="-81581"/>
            <a:ext cx="18433032" cy="10368581"/>
          </a:xfrm>
          <a:prstGeom prst="rect">
            <a:avLst/>
          </a:prstGeom>
        </p:spPr>
      </p:pic>
      <p:sp>
        <p:nvSpPr>
          <p:cNvPr id="3" name="TextBox 2">
            <a:extLst>
              <a:ext uri="{FF2B5EF4-FFF2-40B4-BE49-F238E27FC236}">
                <a16:creationId xmlns:a16="http://schemas.microsoft.com/office/drawing/2014/main" id="{45B8D695-1D84-4918-BE7A-68F6955A8004}"/>
              </a:ext>
            </a:extLst>
          </p:cNvPr>
          <p:cNvSpPr txBox="1"/>
          <p:nvPr/>
        </p:nvSpPr>
        <p:spPr>
          <a:xfrm>
            <a:off x="2807296" y="3057525"/>
            <a:ext cx="14113568" cy="5909310"/>
          </a:xfrm>
          <a:prstGeom prst="rect">
            <a:avLst/>
          </a:prstGeom>
          <a:noFill/>
        </p:spPr>
        <p:txBody>
          <a:bodyPr wrap="square" rtlCol="0">
            <a:spAutoFit/>
          </a:bodyPr>
          <a:lstStyle/>
          <a:p>
            <a:pPr algn="ctr"/>
            <a:r>
              <a:rPr lang="en-IN" sz="5400" b="1" dirty="0">
                <a:solidFill>
                  <a:schemeClr val="bg1">
                    <a:lumMod val="85000"/>
                  </a:schemeClr>
                </a:solidFill>
                <a:effectLst>
                  <a:outerShdw blurRad="38100" dist="38100" dir="2700000" algn="tl">
                    <a:srgbClr val="000000">
                      <a:alpha val="43137"/>
                    </a:srgbClr>
                  </a:outerShdw>
                </a:effectLst>
              </a:rPr>
              <a:t>EDA Project on </a:t>
            </a:r>
          </a:p>
          <a:p>
            <a:pPr algn="ctr"/>
            <a:r>
              <a:rPr lang="en-IN" sz="5400" b="1" dirty="0">
                <a:solidFill>
                  <a:schemeClr val="bg1">
                    <a:lumMod val="85000"/>
                  </a:schemeClr>
                </a:solidFill>
                <a:effectLst>
                  <a:outerShdw blurRad="38100" dist="38100" dir="2700000" algn="tl">
                    <a:srgbClr val="000000">
                      <a:alpha val="43137"/>
                    </a:srgbClr>
                  </a:outerShdw>
                </a:effectLst>
              </a:rPr>
              <a:t>The tragedy of titanic</a:t>
            </a:r>
          </a:p>
          <a:p>
            <a:pPr algn="ctr"/>
            <a:endParaRPr lang="en-IN" sz="5400" b="1" dirty="0">
              <a:solidFill>
                <a:schemeClr val="bg1">
                  <a:lumMod val="85000"/>
                </a:schemeClr>
              </a:solidFill>
              <a:effectLst>
                <a:outerShdw blurRad="38100" dist="38100" dir="2700000" algn="tl">
                  <a:srgbClr val="000000">
                    <a:alpha val="43137"/>
                  </a:srgbClr>
                </a:outerShdw>
              </a:effectLst>
            </a:endParaRPr>
          </a:p>
          <a:p>
            <a:pPr algn="ctr"/>
            <a:endParaRPr lang="en-IN" sz="5400" b="1" dirty="0">
              <a:solidFill>
                <a:schemeClr val="bg1">
                  <a:lumMod val="85000"/>
                </a:schemeClr>
              </a:solidFill>
              <a:effectLst>
                <a:outerShdw blurRad="38100" dist="38100" dir="2700000" algn="tl">
                  <a:srgbClr val="000000">
                    <a:alpha val="43137"/>
                  </a:srgbClr>
                </a:outerShdw>
              </a:effectLst>
            </a:endParaRPr>
          </a:p>
          <a:p>
            <a:pPr algn="ctr"/>
            <a:endParaRPr lang="en-IN" sz="5400" b="1" dirty="0">
              <a:solidFill>
                <a:schemeClr val="bg1">
                  <a:lumMod val="85000"/>
                </a:schemeClr>
              </a:solidFill>
              <a:effectLst>
                <a:outerShdw blurRad="38100" dist="38100" dir="2700000" algn="tl">
                  <a:srgbClr val="000000">
                    <a:alpha val="43137"/>
                  </a:srgbClr>
                </a:outerShdw>
              </a:effectLst>
            </a:endParaRPr>
          </a:p>
          <a:p>
            <a:pPr algn="ctr"/>
            <a:endParaRPr lang="en-IN" sz="5400" b="1" dirty="0">
              <a:solidFill>
                <a:schemeClr val="bg1">
                  <a:lumMod val="85000"/>
                </a:schemeClr>
              </a:solidFill>
              <a:effectLst>
                <a:outerShdw blurRad="38100" dist="38100" dir="2700000" algn="tl">
                  <a:srgbClr val="000000">
                    <a:alpha val="43137"/>
                  </a:srgbClr>
                </a:outerShdw>
              </a:effectLst>
            </a:endParaRPr>
          </a:p>
          <a:p>
            <a:pPr algn="ctr"/>
            <a:r>
              <a:rPr lang="en-IN" sz="5400" b="1" dirty="0">
                <a:solidFill>
                  <a:schemeClr val="bg1">
                    <a:lumMod val="85000"/>
                  </a:schemeClr>
                </a:solidFill>
                <a:effectLst>
                  <a:outerShdw blurRad="38100" dist="38100" dir="2700000" algn="tl">
                    <a:srgbClr val="000000">
                      <a:alpha val="43137"/>
                    </a:srgbClr>
                  </a:outerShdw>
                </a:effectLst>
              </a:rPr>
              <a:t>				            			           </a:t>
            </a:r>
            <a:r>
              <a:rPr lang="en-IN" sz="3600" b="1" dirty="0">
                <a:solidFill>
                  <a:schemeClr val="bg1">
                    <a:lumMod val="85000"/>
                  </a:schemeClr>
                </a:solidFill>
                <a:effectLst>
                  <a:outerShdw blurRad="38100" dist="38100" dir="2700000" algn="tl">
                    <a:srgbClr val="000000">
                      <a:alpha val="43137"/>
                    </a:srgbClr>
                  </a:outerShdw>
                </a:effectLst>
              </a:rPr>
              <a:t>By:- Rituraj Sharma</a:t>
            </a:r>
            <a:endParaRPr lang="en-IN" sz="5400" b="1" dirty="0">
              <a:solidFill>
                <a:schemeClr val="bg1">
                  <a:lumMod val="85000"/>
                </a:schemeClr>
              </a:solidFill>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1C047DDB-12FE-49B1-88FC-013B99D342BC}"/>
              </a:ext>
            </a:extLst>
          </p:cNvPr>
          <p:cNvSpPr>
            <a:spLocks noChangeArrowheads="1"/>
          </p:cNvSpPr>
          <p:nvPr/>
        </p:nvSpPr>
        <p:spPr bwMode="auto">
          <a:xfrm>
            <a:off x="143000" y="2477452"/>
            <a:ext cx="13392980" cy="6986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Bahnschrift SemiCondensed" panose="020B0502040204020203" pitchFamily="34" charset="0"/>
              </a:rPr>
              <a:t>The Titanic incident refers to the tragic sinking of the RMS Titanic, a British passenger liner, on its maiden voyage from Southampton to New York City. The ship, renowned for its luxurious accommodations and advanced safety features, was considered "unsinkable." However, on the night of April 14, 1912, the Titanic struck an iceberg in the North Atlantic Ocean.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Bahnschrift SemiCondensed" panose="020B0502040204020203" pitchFamily="34" charset="0"/>
              </a:rPr>
              <a:t>The collision caused severe damage to the ship's hull, and it began to flood. Due to an insufficient number of lifeboats and a lack of preparedness, many passengers and crew were unable to escape. Out of the 2,224 people on board, over 1,500 lost their lives, making it one of the deadliest peacetime maritime disasters in history.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Bahnschrift SemiCondensed" panose="020B0502040204020203" pitchFamily="34" charset="0"/>
              </a:rPr>
              <a:t>The tragedy highlighted flaws in maritime safety regulations and led to significant changes, including the establishment of the International Convention for the Safety of Life at Sea (SOLAS) in 1914. The story of the Titanic has since become a symbol of human ambition, engineering, and the catastrophic consequences of underestimating nature.</a:t>
            </a:r>
          </a:p>
        </p:txBody>
      </p:sp>
      <p:sp>
        <p:nvSpPr>
          <p:cNvPr id="10" name="TextBox 9">
            <a:extLst>
              <a:ext uri="{FF2B5EF4-FFF2-40B4-BE49-F238E27FC236}">
                <a16:creationId xmlns:a16="http://schemas.microsoft.com/office/drawing/2014/main" id="{5A6800F4-8DC3-4697-B5DE-6B16A0BC5AFC}"/>
              </a:ext>
            </a:extLst>
          </p:cNvPr>
          <p:cNvSpPr txBox="1"/>
          <p:nvPr/>
        </p:nvSpPr>
        <p:spPr>
          <a:xfrm>
            <a:off x="431032" y="823020"/>
            <a:ext cx="15409712" cy="1107996"/>
          </a:xfrm>
          <a:prstGeom prst="rect">
            <a:avLst/>
          </a:prstGeom>
          <a:noFill/>
        </p:spPr>
        <p:txBody>
          <a:bodyPr wrap="square" rtlCol="0">
            <a:spAutoFit/>
          </a:bodyPr>
          <a:lstStyle/>
          <a:p>
            <a:r>
              <a:rPr lang="en-IN" sz="6600" b="1" dirty="0">
                <a:effectLst>
                  <a:outerShdw blurRad="38100" dist="38100" dir="2700000" algn="tl">
                    <a:srgbClr val="000000">
                      <a:alpha val="43137"/>
                    </a:srgbClr>
                  </a:outerShdw>
                </a:effectLst>
                <a:latin typeface="Arial Black" panose="020B0A04020102020204" pitchFamily="34" charset="0"/>
              </a:rPr>
              <a:t>Dataset overview</a:t>
            </a:r>
          </a:p>
        </p:txBody>
      </p:sp>
      <p:pic>
        <p:nvPicPr>
          <p:cNvPr id="12" name="Picture 11">
            <a:extLst>
              <a:ext uri="{FF2B5EF4-FFF2-40B4-BE49-F238E27FC236}">
                <a16:creationId xmlns:a16="http://schemas.microsoft.com/office/drawing/2014/main" id="{9FBA3F75-55BA-4270-A322-F985B39F9297}"/>
              </a:ext>
            </a:extLst>
          </p:cNvPr>
          <p:cNvPicPr>
            <a:picLocks noChangeAspect="1"/>
          </p:cNvPicPr>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3516089" y="0"/>
            <a:ext cx="4771911" cy="10287000"/>
          </a:xfrm>
          <a:prstGeom prst="rect">
            <a:avLst/>
          </a:prstGeom>
          <a:ln>
            <a:noFill/>
          </a:ln>
          <a:effectLst>
            <a:outerShdw blurRad="107950" dist="12700" dir="5400000" algn="ctr">
              <a:srgbClr val="000000"/>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8288000" cy="10287000"/>
          </a:xfrm>
          <a:prstGeom prst="rect">
            <a:avLst/>
          </a:prstGeom>
          <a:blipFill>
            <a:blip r:embed="rId2" cstate="print"/>
            <a:stretch>
              <a:fillRect/>
            </a:stretch>
          </a:blipFill>
        </p:spPr>
        <p:txBody>
          <a:bodyPr wrap="square" lIns="0" tIns="0" rIns="0" bIns="0" rtlCol="0">
            <a:spAutoFit/>
          </a:bodyPr>
          <a:lstStyle/>
          <a:p>
            <a:endParaRPr lang="en-IN" dirty="0"/>
          </a:p>
        </p:txBody>
      </p:sp>
      <p:sp>
        <p:nvSpPr>
          <p:cNvPr id="5" name="TextBox 4">
            <a:extLst>
              <a:ext uri="{FF2B5EF4-FFF2-40B4-BE49-F238E27FC236}">
                <a16:creationId xmlns:a16="http://schemas.microsoft.com/office/drawing/2014/main" id="{FE85A355-B628-4B22-B3D8-1736DE8782A4}"/>
              </a:ext>
            </a:extLst>
          </p:cNvPr>
          <p:cNvSpPr txBox="1"/>
          <p:nvPr/>
        </p:nvSpPr>
        <p:spPr>
          <a:xfrm>
            <a:off x="8617850" y="462980"/>
            <a:ext cx="8136904" cy="923330"/>
          </a:xfrm>
          <a:prstGeom prst="rect">
            <a:avLst/>
          </a:prstGeom>
          <a:noFill/>
        </p:spPr>
        <p:txBody>
          <a:bodyPr wrap="square" rtlCol="0">
            <a:spAutoFit/>
          </a:bodyPr>
          <a:lstStyle/>
          <a:p>
            <a:r>
              <a:rPr lang="en-IN" sz="5400" b="1" dirty="0">
                <a:effectLst>
                  <a:outerShdw blurRad="38100" dist="38100" dir="2700000" algn="tl">
                    <a:srgbClr val="000000">
                      <a:alpha val="43137"/>
                    </a:srgbClr>
                  </a:outerShdw>
                </a:effectLst>
              </a:rPr>
              <a:t>Objective </a:t>
            </a:r>
          </a:p>
        </p:txBody>
      </p:sp>
      <p:sp>
        <p:nvSpPr>
          <p:cNvPr id="7" name="TextBox 6">
            <a:extLst>
              <a:ext uri="{FF2B5EF4-FFF2-40B4-BE49-F238E27FC236}">
                <a16:creationId xmlns:a16="http://schemas.microsoft.com/office/drawing/2014/main" id="{40D053D8-DBA1-40F2-A9FB-806E9E85E8EC}"/>
              </a:ext>
            </a:extLst>
          </p:cNvPr>
          <p:cNvSpPr txBox="1"/>
          <p:nvPr/>
        </p:nvSpPr>
        <p:spPr>
          <a:xfrm>
            <a:off x="9864080" y="3631332"/>
            <a:ext cx="6624736" cy="4536504"/>
          </a:xfrm>
          <a:prstGeom prst="rect">
            <a:avLst/>
          </a:prstGeom>
          <a:solidFill>
            <a:schemeClr val="bg1">
              <a:lumMod val="95000"/>
            </a:schemeClr>
          </a:solidFill>
        </p:spPr>
        <p:txBody>
          <a:bodyPr wrap="square" rtlCol="0">
            <a:spAutoFit/>
          </a:bodyPr>
          <a:lstStyle/>
          <a:p>
            <a:endParaRPr lang="en-IN" dirty="0"/>
          </a:p>
        </p:txBody>
      </p:sp>
      <p:sp>
        <p:nvSpPr>
          <p:cNvPr id="10" name="TextBox 9">
            <a:extLst>
              <a:ext uri="{FF2B5EF4-FFF2-40B4-BE49-F238E27FC236}">
                <a16:creationId xmlns:a16="http://schemas.microsoft.com/office/drawing/2014/main" id="{793C3AFC-EC69-4E83-BC77-ECB4D98891A0}"/>
              </a:ext>
            </a:extLst>
          </p:cNvPr>
          <p:cNvSpPr txBox="1"/>
          <p:nvPr/>
        </p:nvSpPr>
        <p:spPr>
          <a:xfrm>
            <a:off x="8603939" y="1603068"/>
            <a:ext cx="8727347" cy="7900111"/>
          </a:xfrm>
          <a:prstGeom prst="rect">
            <a:avLst/>
          </a:prstGeom>
          <a:solidFill>
            <a:schemeClr val="bg1">
              <a:lumMod val="95000"/>
            </a:schemeClr>
          </a:solid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1700" b="1" i="0" u="none" strike="noStrike" cap="none" normalizeH="0" baseline="0" dirty="0">
                <a:ln>
                  <a:noFill/>
                </a:ln>
                <a:solidFill>
                  <a:schemeClr val="tx1"/>
                </a:solidFill>
                <a:effectLst/>
                <a:latin typeface="Arial" panose="020B0604020202020204" pitchFamily="34" charset="0"/>
              </a:rPr>
              <a:t>Understanding Survival Patterns</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Investigate how different factors (e.g., age, gender, ticket class, fare) influenced survival rates.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Identify groups of passengers who had higher or lower chances of survival. </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1700" b="1" i="0" u="none" strike="noStrike" cap="none" normalizeH="0" baseline="0" dirty="0">
                <a:ln>
                  <a:noFill/>
                </a:ln>
                <a:solidFill>
                  <a:schemeClr val="tx1"/>
                </a:solidFill>
                <a:effectLst/>
                <a:latin typeface="Arial" panose="020B0604020202020204" pitchFamily="34" charset="0"/>
              </a:rPr>
              <a:t>Feature Exploration</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Examine the dataset to understand the distribution of features like age, class, fare, and embarkation points.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Identify missing or inconsistent data and address them appropriately for accurate analysis. </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1700" b="1" i="0" u="none" strike="noStrike" cap="none" normalizeH="0" baseline="0" dirty="0">
                <a:ln>
                  <a:noFill/>
                </a:ln>
                <a:solidFill>
                  <a:schemeClr val="tx1"/>
                </a:solidFill>
                <a:effectLst/>
                <a:latin typeface="Arial" panose="020B0604020202020204" pitchFamily="34" charset="0"/>
              </a:rPr>
              <a:t>Hypothesis Testing</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Test hypotheses, such as whether women and children were more likely to survive or whether first-class passengers had a higher survival rate. </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sz="1700" b="1" i="0" u="none" strike="noStrike" cap="none" normalizeH="0" baseline="0" dirty="0">
                <a:ln>
                  <a:noFill/>
                </a:ln>
                <a:solidFill>
                  <a:schemeClr val="tx1"/>
                </a:solidFill>
                <a:effectLst/>
                <a:latin typeface="Arial" panose="020B0604020202020204" pitchFamily="34" charset="0"/>
              </a:rPr>
              <a:t>Insights for Predictive Modeling</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Use EDA to identify key features that could be useful for building a predictive model for survival. </a:t>
            </a:r>
          </a:p>
          <a:p>
            <a:pPr marL="0" marR="0" lvl="0" indent="0" algn="l" defTabSz="914400" rtl="0" eaLnBrk="0" fontAlgn="base" latinLnBrk="0" hangingPunct="0">
              <a:lnSpc>
                <a:spcPct val="150000"/>
              </a:lnSpc>
              <a:spcBef>
                <a:spcPct val="0"/>
              </a:spcBef>
              <a:spcAft>
                <a:spcPct val="0"/>
              </a:spcAft>
              <a:buClrTx/>
              <a:buSzTx/>
              <a:buFontTx/>
              <a:buAutoNum type="arabicPeriod" startAt="5"/>
              <a:tabLst/>
            </a:pPr>
            <a:r>
              <a:rPr kumimoji="0" lang="en-US" altLang="en-US" sz="1700" b="1" i="0" u="none" strike="noStrike" cap="none" normalizeH="0" baseline="0" dirty="0">
                <a:ln>
                  <a:noFill/>
                </a:ln>
                <a:solidFill>
                  <a:schemeClr val="tx1"/>
                </a:solidFill>
                <a:effectLst/>
                <a:latin typeface="Arial" panose="020B0604020202020204" pitchFamily="34" charset="0"/>
              </a:rPr>
              <a:t>Visualizing Data</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700" b="0" i="0" u="none" strike="noStrike" cap="none" normalizeH="0" baseline="0" dirty="0">
                <a:ln>
                  <a:noFill/>
                </a:ln>
                <a:solidFill>
                  <a:schemeClr val="tx1"/>
                </a:solidFill>
                <a:effectLst/>
                <a:latin typeface="Arial" panose="020B0604020202020204" pitchFamily="34" charset="0"/>
              </a:rPr>
              <a:t>Create visualizations to communicate insights effectively, such as survival rates by gender or class.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Arial" panose="020B0604020202020204" pitchFamily="34" charset="0"/>
              </a:rPr>
              <a:t>Would you like suggestions for specific analyses or visualizations for the project?</a:t>
            </a:r>
          </a:p>
          <a:p>
            <a:pPr>
              <a:lnSpc>
                <a:spcPct val="150000"/>
              </a:lnSpc>
            </a:pPr>
            <a:endParaRPr lang="en-IN"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76FB08-5DD9-4FE5-BF68-A8CE20DB72B6}"/>
              </a:ext>
            </a:extLst>
          </p:cNvPr>
          <p:cNvSpPr txBox="1"/>
          <p:nvPr/>
        </p:nvSpPr>
        <p:spPr>
          <a:xfrm>
            <a:off x="647056" y="895028"/>
            <a:ext cx="11809312" cy="769441"/>
          </a:xfrm>
          <a:prstGeom prst="rect">
            <a:avLst/>
          </a:prstGeom>
          <a:noFill/>
        </p:spPr>
        <p:txBody>
          <a:bodyPr wrap="square" rtlCol="0">
            <a:spAutoFit/>
          </a:bodyPr>
          <a:lstStyle/>
          <a:p>
            <a:r>
              <a:rPr lang="en-IN" sz="4400" b="1" dirty="0">
                <a:effectLst>
                  <a:outerShdw blurRad="38100" dist="38100" dir="2700000" algn="tl">
                    <a:srgbClr val="000000">
                      <a:alpha val="43137"/>
                    </a:srgbClr>
                  </a:outerShdw>
                </a:effectLst>
                <a:latin typeface="Comic Sans MS" panose="030F0702030302020204" pitchFamily="66" charset="0"/>
              </a:rPr>
              <a:t>Steps done in the project</a:t>
            </a:r>
          </a:p>
        </p:txBody>
      </p:sp>
      <p:sp>
        <p:nvSpPr>
          <p:cNvPr id="6" name="TextBox 5">
            <a:extLst>
              <a:ext uri="{FF2B5EF4-FFF2-40B4-BE49-F238E27FC236}">
                <a16:creationId xmlns:a16="http://schemas.microsoft.com/office/drawing/2014/main" id="{E2F03CE6-A1EE-4156-8FB3-4C9264B4C74A}"/>
              </a:ext>
            </a:extLst>
          </p:cNvPr>
          <p:cNvSpPr txBox="1"/>
          <p:nvPr/>
        </p:nvSpPr>
        <p:spPr>
          <a:xfrm>
            <a:off x="647056" y="2388900"/>
            <a:ext cx="11017224" cy="5509200"/>
          </a:xfrm>
          <a:prstGeom prst="rect">
            <a:avLst/>
          </a:prstGeom>
          <a:noFill/>
        </p:spPr>
        <p:txBody>
          <a:bodyPr wrap="square" rtlCol="0">
            <a:spAutoFit/>
          </a:bodyPr>
          <a:lstStyle/>
          <a:p>
            <a:pPr marL="342900" indent="-342900">
              <a:buAutoNum type="arabicPeriod"/>
            </a:pPr>
            <a:r>
              <a:rPr lang="en-US" sz="4400" dirty="0"/>
              <a:t>Understand the Dataset and Objectives</a:t>
            </a:r>
          </a:p>
          <a:p>
            <a:pPr marL="342900" indent="-342900">
              <a:buAutoNum type="arabicPeriod"/>
            </a:pPr>
            <a:r>
              <a:rPr lang="en-US" sz="4400" dirty="0"/>
              <a:t>Load and Inspect the Data</a:t>
            </a:r>
          </a:p>
          <a:p>
            <a:pPr marL="342900" indent="-342900">
              <a:buAutoNum type="arabicPeriod"/>
            </a:pPr>
            <a:r>
              <a:rPr lang="en-IN" sz="4400" dirty="0"/>
              <a:t>Handle Missing Data</a:t>
            </a:r>
            <a:endParaRPr lang="en-US" sz="4400" dirty="0"/>
          </a:p>
          <a:p>
            <a:pPr marL="342900" indent="-342900">
              <a:buAutoNum type="arabicPeriod"/>
            </a:pPr>
            <a:r>
              <a:rPr lang="en-IN" sz="4400" dirty="0"/>
              <a:t>Perform Univariate Analysis</a:t>
            </a:r>
            <a:endParaRPr lang="en-US" sz="4400" dirty="0"/>
          </a:p>
          <a:p>
            <a:pPr marL="342900" indent="-342900">
              <a:buAutoNum type="arabicPeriod"/>
            </a:pPr>
            <a:r>
              <a:rPr lang="en-IN" sz="4400" dirty="0"/>
              <a:t>Perform Bivariate and Multivariate Analysis</a:t>
            </a:r>
            <a:endParaRPr lang="en-US" sz="4400" dirty="0"/>
          </a:p>
          <a:p>
            <a:pPr marL="342900" indent="-342900">
              <a:buAutoNum type="arabicPeriod"/>
            </a:pPr>
            <a:r>
              <a:rPr lang="en-IN" sz="4400" dirty="0"/>
              <a:t>Data Cleaning</a:t>
            </a:r>
            <a:endParaRPr lang="en-US" sz="4400" dirty="0"/>
          </a:p>
          <a:p>
            <a:pPr marL="342900" indent="-342900">
              <a:buAutoNum type="arabicPeriod"/>
            </a:pPr>
            <a:r>
              <a:rPr lang="en-IN" sz="4400" dirty="0"/>
              <a:t>Visualize</a:t>
            </a:r>
            <a:r>
              <a:rPr lang="en-US" sz="4400" dirty="0"/>
              <a:t> the data</a:t>
            </a:r>
          </a:p>
          <a:p>
            <a:pPr marL="342900" indent="-342900">
              <a:buAutoNum type="arabicPeriod"/>
            </a:pPr>
            <a:r>
              <a:rPr lang="en-US" sz="4400" dirty="0"/>
              <a:t>Conclusion</a:t>
            </a:r>
            <a:endParaRPr lang="en-IN" sz="4400" dirty="0"/>
          </a:p>
        </p:txBody>
      </p:sp>
      <p:pic>
        <p:nvPicPr>
          <p:cNvPr id="3074" name="Picture 2" descr="Ivan Samkov">
            <a:extLst>
              <a:ext uri="{FF2B5EF4-FFF2-40B4-BE49-F238E27FC236}">
                <a16:creationId xmlns:a16="http://schemas.microsoft.com/office/drawing/2014/main" id="{08B9A9D2-494F-4FF2-97EF-9B1F16BB25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20263" y="0"/>
            <a:ext cx="6848203" cy="1028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C7FF3D-470D-414B-AC65-A9E43A03C6C6}"/>
              </a:ext>
            </a:extLst>
          </p:cNvPr>
          <p:cNvSpPr txBox="1"/>
          <p:nvPr/>
        </p:nvSpPr>
        <p:spPr>
          <a:xfrm>
            <a:off x="719064" y="731640"/>
            <a:ext cx="13753528" cy="1569660"/>
          </a:xfrm>
          <a:prstGeom prst="rect">
            <a:avLst/>
          </a:prstGeom>
          <a:noFill/>
        </p:spPr>
        <p:txBody>
          <a:bodyPr wrap="square" rtlCol="0">
            <a:spAutoFit/>
          </a:bodyPr>
          <a:lstStyle/>
          <a:p>
            <a:r>
              <a:rPr lang="en-IN" sz="4800" b="1" dirty="0">
                <a:solidFill>
                  <a:schemeClr val="accent1">
                    <a:lumMod val="75000"/>
                  </a:schemeClr>
                </a:solidFill>
                <a:effectLst>
                  <a:outerShdw blurRad="38100" dist="38100" dir="2700000" algn="tl">
                    <a:srgbClr val="000000">
                      <a:alpha val="43137"/>
                    </a:srgbClr>
                  </a:outerShdw>
                </a:effectLst>
              </a:rPr>
              <a:t>Q.1 </a:t>
            </a:r>
            <a:r>
              <a:rPr lang="en-US" sz="4800" b="1" i="0" dirty="0">
                <a:solidFill>
                  <a:schemeClr val="accent1">
                    <a:lumMod val="75000"/>
                  </a:schemeClr>
                </a:solidFill>
                <a:effectLst>
                  <a:outerShdw blurRad="38100" dist="38100" dir="2700000" algn="tl">
                    <a:srgbClr val="000000">
                      <a:alpha val="43137"/>
                    </a:srgbClr>
                  </a:outerShdw>
                </a:effectLst>
                <a:latin typeface="Roboto" panose="02000000000000000000" pitchFamily="2" charset="0"/>
              </a:rPr>
              <a:t>Finding the people survived and not survived</a:t>
            </a:r>
          </a:p>
          <a:p>
            <a:endParaRPr lang="en-IN" sz="4800" b="1" dirty="0">
              <a:solidFill>
                <a:schemeClr val="accent1">
                  <a:lumMod val="75000"/>
                </a:schemeClr>
              </a:solidFill>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E88D2D66-DEEB-41E4-8957-FA20F4D040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2071" y="2551212"/>
            <a:ext cx="8306539" cy="6336704"/>
          </a:xfrm>
          <a:prstGeom prst="rect">
            <a:avLst/>
          </a:prstGeom>
        </p:spPr>
      </p:pic>
      <p:sp>
        <p:nvSpPr>
          <p:cNvPr id="9" name="Rectangle 1">
            <a:extLst>
              <a:ext uri="{FF2B5EF4-FFF2-40B4-BE49-F238E27FC236}">
                <a16:creationId xmlns:a16="http://schemas.microsoft.com/office/drawing/2014/main" id="{9249E83B-BB1E-4F1F-AAB0-5F9A5D64AD4D}"/>
              </a:ext>
            </a:extLst>
          </p:cNvPr>
          <p:cNvSpPr>
            <a:spLocks noChangeArrowheads="1"/>
          </p:cNvSpPr>
          <p:nvPr/>
        </p:nvSpPr>
        <p:spPr bwMode="auto">
          <a:xfrm>
            <a:off x="503040" y="2301300"/>
            <a:ext cx="8999984" cy="5129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200000"/>
              </a:lnSpc>
              <a:spcBef>
                <a:spcPct val="0"/>
              </a:spcBef>
              <a:spcAft>
                <a:spcPct val="0"/>
              </a:spcAft>
              <a:buClrTx/>
              <a:buSzTx/>
              <a:tabLst/>
            </a:pPr>
            <a:r>
              <a:rPr lang="en-US" altLang="en-US" sz="2800" dirty="0">
                <a:latin typeface="Arial" panose="020B0604020202020204" pitchFamily="34" charset="0"/>
              </a:rPr>
              <a:t>The number of survived and not survived people in the tragedy of titanic</a:t>
            </a:r>
            <a:endParaRPr kumimoji="0" lang="en-US" altLang="en-US" sz="28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Arial" panose="020B0604020202020204" pitchFamily="34" charset="0"/>
              </a:rPr>
              <a:t>549 passengers (62%) did not survive </a:t>
            </a:r>
            <a:r>
              <a:rPr kumimoji="0" lang="en-US" altLang="en-US" sz="2800" b="0" i="0" u="none" strike="noStrike" cap="none" normalizeH="0" baseline="0" dirty="0">
                <a:ln>
                  <a:noFill/>
                </a:ln>
                <a:solidFill>
                  <a:schemeClr val="tx1"/>
                </a:solidFill>
                <a:effectLst/>
                <a:latin typeface="Arial" panose="020B0604020202020204" pitchFamily="34" charset="0"/>
              </a:rPr>
              <a:t>the Titanic disaster.</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Arial" panose="020B0604020202020204" pitchFamily="34" charset="0"/>
              </a:rPr>
              <a:t>342 passengers (38%) survived</a:t>
            </a:r>
            <a:r>
              <a:rPr kumimoji="0" lang="en-US" altLang="en-US" sz="2800" b="0" i="0" u="none" strike="noStrike" cap="none" normalizeH="0" baseline="0" dirty="0">
                <a:ln>
                  <a:noFill/>
                </a:ln>
                <a:solidFill>
                  <a:schemeClr val="tx1"/>
                </a:solidFill>
                <a:effectLst/>
                <a:latin typeface="Arial" panose="020B0604020202020204" pitchFamily="34" charset="0"/>
              </a:rPr>
              <a:t>, reflecting the tragedy's high mortality rate</a:t>
            </a:r>
            <a:r>
              <a:rPr kumimoji="0" lang="en-US" altLang="en-US" sz="20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C7FF3D-470D-414B-AC65-A9E43A03C6C6}"/>
              </a:ext>
            </a:extLst>
          </p:cNvPr>
          <p:cNvSpPr txBox="1"/>
          <p:nvPr/>
        </p:nvSpPr>
        <p:spPr>
          <a:xfrm>
            <a:off x="719064" y="731640"/>
            <a:ext cx="14257584" cy="830997"/>
          </a:xfrm>
          <a:prstGeom prst="rect">
            <a:avLst/>
          </a:prstGeom>
          <a:noFill/>
        </p:spPr>
        <p:txBody>
          <a:bodyPr wrap="square" rtlCol="0">
            <a:spAutoFit/>
          </a:bodyPr>
          <a:lstStyle/>
          <a:p>
            <a:r>
              <a:rPr lang="en-IN" sz="4800" b="1" dirty="0">
                <a:solidFill>
                  <a:schemeClr val="accent1">
                    <a:lumMod val="75000"/>
                  </a:schemeClr>
                </a:solidFill>
                <a:effectLst>
                  <a:outerShdw blurRad="38100" dist="38100" dir="2700000" algn="tl">
                    <a:srgbClr val="000000">
                      <a:alpha val="43137"/>
                    </a:srgbClr>
                  </a:outerShdw>
                </a:effectLst>
              </a:rPr>
              <a:t>Q.2 Number of survived and not survived gender wise</a:t>
            </a:r>
          </a:p>
        </p:txBody>
      </p:sp>
      <p:pic>
        <p:nvPicPr>
          <p:cNvPr id="3" name="Picture 2">
            <a:extLst>
              <a:ext uri="{FF2B5EF4-FFF2-40B4-BE49-F238E27FC236}">
                <a16:creationId xmlns:a16="http://schemas.microsoft.com/office/drawing/2014/main" id="{3B3C9682-3ACE-4DD5-8E79-5FAC288EE1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55968" y="2479204"/>
            <a:ext cx="8712968" cy="6509972"/>
          </a:xfrm>
          <a:prstGeom prst="rect">
            <a:avLst/>
          </a:prstGeom>
        </p:spPr>
      </p:pic>
      <p:sp>
        <p:nvSpPr>
          <p:cNvPr id="4" name="Rectangle 1">
            <a:extLst>
              <a:ext uri="{FF2B5EF4-FFF2-40B4-BE49-F238E27FC236}">
                <a16:creationId xmlns:a16="http://schemas.microsoft.com/office/drawing/2014/main" id="{CA9B7407-4E45-4562-B4BE-2D029FC32ACD}"/>
              </a:ext>
            </a:extLst>
          </p:cNvPr>
          <p:cNvSpPr>
            <a:spLocks noChangeArrowheads="1"/>
          </p:cNvSpPr>
          <p:nvPr/>
        </p:nvSpPr>
        <p:spPr bwMode="auto">
          <a:xfrm>
            <a:off x="287016" y="2695228"/>
            <a:ext cx="9001000" cy="4532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r>
              <a:rPr lang="en-US" altLang="en-US" sz="2400" dirty="0">
                <a:latin typeface="Arial" panose="020B0604020202020204" pitchFamily="34" charset="0"/>
              </a:rPr>
              <a:t>The number of the survived and not survived people survived and not survived in the titanic incident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A </a:t>
            </a:r>
            <a:r>
              <a:rPr kumimoji="0" lang="en-US" altLang="en-US" sz="2800" b="0" i="0" u="none" strike="noStrike" cap="none" normalizeH="0" baseline="0" dirty="0">
                <a:ln>
                  <a:noFill/>
                </a:ln>
                <a:solidFill>
                  <a:schemeClr val="tx1"/>
                </a:solidFill>
                <a:effectLst/>
                <a:latin typeface="Arial" panose="020B0604020202020204" pitchFamily="34" charset="0"/>
              </a:rPr>
              <a:t>higher</a:t>
            </a:r>
            <a:r>
              <a:rPr kumimoji="0" lang="en-US" altLang="en-US" sz="2400" b="0" i="0" u="none" strike="noStrike" cap="none" normalizeH="0" baseline="0" dirty="0">
                <a:ln>
                  <a:noFill/>
                </a:ln>
                <a:solidFill>
                  <a:schemeClr val="tx1"/>
                </a:solidFill>
                <a:effectLst/>
                <a:latin typeface="Arial" panose="020B0604020202020204" pitchFamily="34" charset="0"/>
              </a:rPr>
              <a:t> proportion of women survived (233 out of 314) compared to men (109 out of 577).</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Most male passengers did not survive, reflecting the "women and children first" rescue policy. </a:t>
            </a:r>
          </a:p>
        </p:txBody>
      </p:sp>
    </p:spTree>
    <p:extLst>
      <p:ext uri="{BB962C8B-B14F-4D97-AF65-F5344CB8AC3E}">
        <p14:creationId xmlns:p14="http://schemas.microsoft.com/office/powerpoint/2010/main" val="1318015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C7FF3D-470D-414B-AC65-A9E43A03C6C6}"/>
              </a:ext>
            </a:extLst>
          </p:cNvPr>
          <p:cNvSpPr txBox="1"/>
          <p:nvPr/>
        </p:nvSpPr>
        <p:spPr>
          <a:xfrm>
            <a:off x="935088" y="479596"/>
            <a:ext cx="14257584" cy="830997"/>
          </a:xfrm>
          <a:prstGeom prst="rect">
            <a:avLst/>
          </a:prstGeom>
          <a:noFill/>
        </p:spPr>
        <p:txBody>
          <a:bodyPr wrap="square" rtlCol="0">
            <a:spAutoFit/>
          </a:bodyPr>
          <a:lstStyle/>
          <a:p>
            <a:r>
              <a:rPr lang="en-IN" sz="4800" b="1" dirty="0">
                <a:solidFill>
                  <a:schemeClr val="accent1">
                    <a:lumMod val="75000"/>
                  </a:schemeClr>
                </a:solidFill>
                <a:effectLst>
                  <a:outerShdw blurRad="38100" dist="38100" dir="2700000" algn="tl">
                    <a:srgbClr val="000000">
                      <a:alpha val="43137"/>
                    </a:srgbClr>
                  </a:outerShdw>
                </a:effectLst>
              </a:rPr>
              <a:t>Q.3 </a:t>
            </a:r>
            <a:r>
              <a:rPr lang="en-US" sz="4800" b="1" i="0" dirty="0">
                <a:solidFill>
                  <a:schemeClr val="accent1">
                    <a:lumMod val="75000"/>
                  </a:schemeClr>
                </a:solidFill>
                <a:effectLst>
                  <a:outerShdw blurRad="38100" dist="38100" dir="2700000" algn="tl">
                    <a:srgbClr val="000000">
                      <a:alpha val="43137"/>
                    </a:srgbClr>
                  </a:outerShdw>
                </a:effectLst>
                <a:latin typeface="Roboto" panose="02000000000000000000" pitchFamily="2" charset="0"/>
              </a:rPr>
              <a:t>Number of survivor and not survivor in Pclass</a:t>
            </a:r>
          </a:p>
        </p:txBody>
      </p:sp>
      <p:sp>
        <p:nvSpPr>
          <p:cNvPr id="8" name="TextBox 7">
            <a:extLst>
              <a:ext uri="{FF2B5EF4-FFF2-40B4-BE49-F238E27FC236}">
                <a16:creationId xmlns:a16="http://schemas.microsoft.com/office/drawing/2014/main" id="{77B1D266-596F-455E-893F-96052F6D0560}"/>
              </a:ext>
            </a:extLst>
          </p:cNvPr>
          <p:cNvSpPr txBox="1"/>
          <p:nvPr/>
        </p:nvSpPr>
        <p:spPr>
          <a:xfrm>
            <a:off x="643388" y="1975148"/>
            <a:ext cx="7560840" cy="7940635"/>
          </a:xfrm>
          <a:prstGeom prst="rect">
            <a:avLst/>
          </a:prstGeom>
          <a:noFill/>
        </p:spPr>
        <p:txBody>
          <a:bodyPr wrap="square" rtlCol="0">
            <a:spAutoFit/>
          </a:bodyPr>
          <a:lstStyle/>
          <a:p>
            <a:pPr algn="l"/>
            <a:r>
              <a:rPr lang="en-US" sz="3000" b="0" i="0" dirty="0">
                <a:effectLst/>
                <a:latin typeface="Google Sans"/>
              </a:rPr>
              <a:t>According to data from the Titanic passenger </a:t>
            </a:r>
            <a:r>
              <a:rPr lang="en-US" sz="3000" dirty="0">
                <a:latin typeface="Google Sans"/>
              </a:rPr>
              <a:t>the survived and non survived people in </a:t>
            </a:r>
            <a:r>
              <a:rPr lang="en-US" sz="3000" b="0" i="0" dirty="0">
                <a:effectLst/>
                <a:latin typeface="Google Sans"/>
              </a:rPr>
              <a:t>passenger class (Pclass)</a:t>
            </a:r>
          </a:p>
          <a:p>
            <a:pPr algn="l"/>
            <a:endParaRPr lang="en-US" sz="3000" b="0" i="0" dirty="0">
              <a:effectLst/>
              <a:latin typeface="Google Sans"/>
            </a:endParaRPr>
          </a:p>
          <a:p>
            <a:pPr algn="l" fontAlgn="ctr">
              <a:lnSpc>
                <a:spcPct val="150000"/>
              </a:lnSpc>
              <a:buFont typeface="Arial" panose="020B0604020202020204" pitchFamily="34" charset="0"/>
              <a:buChar char="•"/>
            </a:pPr>
            <a:r>
              <a:rPr lang="en-US" sz="3000" b="1" i="0" dirty="0">
                <a:effectLst/>
                <a:latin typeface="Google Sans"/>
              </a:rPr>
              <a:t>First Class (Pclass 1):</a:t>
            </a:r>
            <a:r>
              <a:rPr lang="en-US" sz="3000" b="0" i="0" dirty="0">
                <a:effectLst/>
                <a:latin typeface="Google Sans"/>
              </a:rPr>
              <a:t> A significantly higher number of survivors compared to other classes, with most data sets showing around 60% survival rate. </a:t>
            </a:r>
          </a:p>
          <a:p>
            <a:pPr algn="l" fontAlgn="ctr">
              <a:lnSpc>
                <a:spcPct val="150000"/>
              </a:lnSpc>
              <a:buFont typeface="Arial" panose="020B0604020202020204" pitchFamily="34" charset="0"/>
              <a:buChar char="•"/>
            </a:pPr>
            <a:r>
              <a:rPr lang="en-US" sz="3000" b="1" i="0" dirty="0">
                <a:effectLst/>
                <a:latin typeface="Google Sans"/>
              </a:rPr>
              <a:t>Second Class (Pclass 2):</a:t>
            </a:r>
            <a:r>
              <a:rPr lang="en-US" sz="3000" b="0" i="0" dirty="0">
                <a:effectLst/>
                <a:latin typeface="Google Sans"/>
              </a:rPr>
              <a:t> A moderate survival rate, generally around 40%. </a:t>
            </a:r>
          </a:p>
          <a:p>
            <a:pPr algn="l">
              <a:lnSpc>
                <a:spcPct val="150000"/>
              </a:lnSpc>
              <a:buFont typeface="Arial" panose="020B0604020202020204" pitchFamily="34" charset="0"/>
              <a:buChar char="•"/>
            </a:pPr>
            <a:r>
              <a:rPr lang="en-US" sz="3000" b="1" i="0" dirty="0">
                <a:effectLst/>
                <a:latin typeface="Google Sans"/>
              </a:rPr>
              <a:t>Third Class (Pclass 3):</a:t>
            </a:r>
            <a:r>
              <a:rPr lang="en-US" sz="3000" b="0" i="0" dirty="0">
                <a:effectLst/>
                <a:latin typeface="Google Sans"/>
              </a:rPr>
              <a:t> The lowest survival rate, with only around 25% of passengers surviving. </a:t>
            </a:r>
          </a:p>
          <a:p>
            <a:endParaRPr lang="en-IN" sz="3000" dirty="0">
              <a:latin typeface="Century" panose="02040604050505020304" pitchFamily="18" charset="0"/>
            </a:endParaRPr>
          </a:p>
        </p:txBody>
      </p:sp>
      <p:pic>
        <p:nvPicPr>
          <p:cNvPr id="4" name="Picture 3">
            <a:extLst>
              <a:ext uri="{FF2B5EF4-FFF2-40B4-BE49-F238E27FC236}">
                <a16:creationId xmlns:a16="http://schemas.microsoft.com/office/drawing/2014/main" id="{D6B13B88-D1CB-46A6-9074-F147493EF5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0" y="2479204"/>
            <a:ext cx="8500612" cy="6408712"/>
          </a:xfrm>
          <a:prstGeom prst="rect">
            <a:avLst/>
          </a:prstGeom>
        </p:spPr>
      </p:pic>
    </p:spTree>
    <p:extLst>
      <p:ext uri="{BB962C8B-B14F-4D97-AF65-F5344CB8AC3E}">
        <p14:creationId xmlns:p14="http://schemas.microsoft.com/office/powerpoint/2010/main" val="1973501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8288000" cy="10287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594386" y="1327076"/>
            <a:ext cx="8045558" cy="756617"/>
          </a:xfrm>
          <a:prstGeom prst="rect">
            <a:avLst/>
          </a:prstGeom>
        </p:spPr>
        <p:txBody>
          <a:bodyPr vert="horz" wrap="square" lIns="0" tIns="0" rIns="0" bIns="0" rtlCol="0">
            <a:spAutoFit/>
          </a:bodyPr>
          <a:lstStyle/>
          <a:p>
            <a:pPr marL="0" marR="0">
              <a:lnSpc>
                <a:spcPts val="5927"/>
              </a:lnSpc>
              <a:spcBef>
                <a:spcPts val="0"/>
              </a:spcBef>
              <a:spcAft>
                <a:spcPts val="0"/>
              </a:spcAft>
            </a:pPr>
            <a:r>
              <a:rPr sz="5000" b="1" spc="12" dirty="0">
                <a:solidFill>
                  <a:schemeClr val="tx2">
                    <a:lumMod val="60000"/>
                    <a:lumOff val="40000"/>
                  </a:schemeClr>
                </a:solidFill>
                <a:effectLst>
                  <a:outerShdw blurRad="38100" dist="38100" dir="2700000" algn="tl">
                    <a:srgbClr val="000000">
                      <a:alpha val="43137"/>
                    </a:srgbClr>
                  </a:outerShdw>
                </a:effectLst>
                <a:latin typeface="Roboto" panose="02000000000000000000" pitchFamily="2" charset="0"/>
                <a:ea typeface="Roboto" panose="02000000000000000000" pitchFamily="2" charset="0"/>
                <a:cs typeface="AQLJMA+AbhayaLibre-Medium"/>
              </a:rPr>
              <a:t>Conclusion:</a:t>
            </a:r>
            <a:r>
              <a:rPr lang="en-IN" sz="5000" b="1" spc="12" dirty="0">
                <a:solidFill>
                  <a:schemeClr val="tx2">
                    <a:lumMod val="60000"/>
                    <a:lumOff val="40000"/>
                  </a:schemeClr>
                </a:solidFill>
                <a:effectLst>
                  <a:outerShdw blurRad="38100" dist="38100" dir="2700000" algn="tl">
                    <a:srgbClr val="000000">
                      <a:alpha val="43137"/>
                    </a:srgbClr>
                  </a:outerShdw>
                </a:effectLst>
                <a:latin typeface="Roboto" panose="02000000000000000000" pitchFamily="2" charset="0"/>
                <a:ea typeface="Roboto" panose="02000000000000000000" pitchFamily="2" charset="0"/>
                <a:cs typeface="AQLJMA+AbhayaLibre-Medium"/>
              </a:rPr>
              <a:t>-</a:t>
            </a:r>
            <a:endParaRPr sz="5000" b="1" spc="12" dirty="0">
              <a:solidFill>
                <a:schemeClr val="tx2">
                  <a:lumMod val="60000"/>
                  <a:lumOff val="40000"/>
                </a:schemeClr>
              </a:solidFill>
              <a:effectLst>
                <a:outerShdw blurRad="38100" dist="38100" dir="2700000" algn="tl">
                  <a:srgbClr val="000000">
                    <a:alpha val="43137"/>
                  </a:srgbClr>
                </a:outerShdw>
              </a:effectLst>
              <a:latin typeface="Roboto" panose="02000000000000000000" pitchFamily="2" charset="0"/>
              <a:ea typeface="Roboto" panose="02000000000000000000" pitchFamily="2" charset="0"/>
              <a:cs typeface="AQLJMA+AbhayaLibre-Medium"/>
            </a:endParaRPr>
          </a:p>
        </p:txBody>
      </p:sp>
      <p:sp>
        <p:nvSpPr>
          <p:cNvPr id="5" name="TextBox 4">
            <a:extLst>
              <a:ext uri="{FF2B5EF4-FFF2-40B4-BE49-F238E27FC236}">
                <a16:creationId xmlns:a16="http://schemas.microsoft.com/office/drawing/2014/main" id="{51F49CE4-8148-41CF-BC9C-F6136ECCC382}"/>
              </a:ext>
            </a:extLst>
          </p:cNvPr>
          <p:cNvSpPr txBox="1"/>
          <p:nvPr/>
        </p:nvSpPr>
        <p:spPr>
          <a:xfrm>
            <a:off x="1185519" y="2767236"/>
            <a:ext cx="7454425" cy="5112568"/>
          </a:xfrm>
          <a:prstGeom prst="rect">
            <a:avLst/>
          </a:prstGeom>
          <a:solidFill>
            <a:schemeClr val="bg1">
              <a:lumMod val="95000"/>
            </a:schemeClr>
          </a:solidFill>
        </p:spPr>
        <p:txBody>
          <a:bodyPr wrap="square" rtlCol="0">
            <a:spAutoFit/>
          </a:bodyPr>
          <a:lstStyle/>
          <a:p>
            <a:endParaRPr lang="en-IN" dirty="0"/>
          </a:p>
        </p:txBody>
      </p:sp>
      <p:sp>
        <p:nvSpPr>
          <p:cNvPr id="4" name="object 4"/>
          <p:cNvSpPr txBox="1"/>
          <p:nvPr/>
        </p:nvSpPr>
        <p:spPr>
          <a:xfrm>
            <a:off x="1185519" y="3105484"/>
            <a:ext cx="7454425" cy="4774320"/>
          </a:xfrm>
          <a:prstGeom prst="rect">
            <a:avLst/>
          </a:prstGeom>
        </p:spPr>
        <p:txBody>
          <a:bodyPr vert="horz" wrap="square" lIns="0" tIns="0" rIns="0" bIns="0" rtlCol="0">
            <a:spAutoFit/>
          </a:bodyPr>
          <a:lstStyle/>
          <a:p>
            <a:pPr>
              <a:lnSpc>
                <a:spcPts val="3358"/>
              </a:lnSpc>
            </a:pPr>
            <a:r>
              <a:rPr lang="en-US" sz="2400" b="0" i="0" dirty="0">
                <a:effectLst/>
                <a:latin typeface="Google Sans"/>
              </a:rPr>
              <a:t>Analysis of the Titanic dataset overwhelmingly concludes that being female significantly increased a passenger's chance of survival, with women having a much higher survival rate compared to men; additionally, passenger class played a major role, with first-class passengers having better survival odds than those in lower classes, indicating that socioeconomic status was a key factor in the tragedy; other contributing factors to survival included age (children generally had higher survival rates) and family size (smaller family units tended to have better outcomes)</a:t>
            </a:r>
            <a:endParaRPr lang="en-IN" sz="2400" dirty="0"/>
          </a:p>
          <a:p>
            <a:pPr marL="0" marR="0">
              <a:lnSpc>
                <a:spcPts val="3358"/>
              </a:lnSpc>
              <a:spcBef>
                <a:spcPts val="0"/>
              </a:spcBef>
              <a:spcAft>
                <a:spcPts val="0"/>
              </a:spcAft>
            </a:pPr>
            <a:endParaRPr sz="2750" dirty="0">
              <a:solidFill>
                <a:srgbClr val="322C2C"/>
              </a:solidFill>
              <a:latin typeface="BWSFLV+Montserrat-Regular"/>
              <a:cs typeface="BWSFLV+Montserrat-Regular"/>
            </a:endParaRPr>
          </a:p>
        </p:txBody>
      </p:sp>
    </p:spTree>
  </p:cSld>
  <p:clrMapOvr>
    <a:masterClrMapping/>
  </p:clrMapOvr>
</p:sld>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4E90DBB-C1A7-41A3-BE02-A0964BB962A7}">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137</TotalTime>
  <Words>707</Words>
  <Application>Microsoft Office PowerPoint</Application>
  <PresentationFormat>Custom</PresentationFormat>
  <Paragraphs>50</Paragraphs>
  <Slides>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vt:i4>
      </vt:variant>
    </vt:vector>
  </HeadingPairs>
  <TitlesOfParts>
    <vt:vector size="18" baseType="lpstr">
      <vt:lpstr>Comic Sans MS</vt:lpstr>
      <vt:lpstr>Google Sans</vt:lpstr>
      <vt:lpstr>Century</vt:lpstr>
      <vt:lpstr>Bahnschrift SemiCondensed</vt:lpstr>
      <vt:lpstr>Arial</vt:lpstr>
      <vt:lpstr>Calibri</vt:lpstr>
      <vt:lpstr>Arial Black</vt:lpstr>
      <vt:lpstr>BWSFLV+Montserrat-Regular</vt:lpstr>
      <vt:lpstr>Roboto</vt:lpstr>
      <vt:lpstr>Theme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sejda</dc:creator>
  <cp:lastModifiedBy>Windows User</cp:lastModifiedBy>
  <cp:revision>19</cp:revision>
  <dcterms:modified xsi:type="dcterms:W3CDTF">2025-01-24T09:00:30Z</dcterms:modified>
</cp:coreProperties>
</file>